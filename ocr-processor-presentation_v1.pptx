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 snapToObjects="1">
      <p:cViewPr varScale="1">
        <p:scale>
          <a:sx n="120" d="100"/>
          <a:sy n="120" d="100"/>
        </p:scale>
        <p:origin x="44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FFFFFF"/>
                </a:solidFill>
                <a:latin typeface="Arial"/>
              </a:defRPr>
            </a:pPr>
            <a:r>
              <a:t>In-App Automation Testing Platform</a:t>
            </a:r>
          </a:p>
          <a:p>
            <a:pPr>
              <a:spcAft>
                <a:spcPts val="3600"/>
              </a:spcAft>
              <a:defRPr sz="1900">
                <a:solidFill>
                  <a:srgbClr val="94A3B8"/>
                </a:solidFill>
                <a:latin typeface="Arial"/>
              </a:defRPr>
            </a:pPr>
            <a:r>
              <a:t>Bridging the Developer–QA Gap with Interactive Test Execution, Live Evidence &amp; Requirement Traceability</a:t>
            </a:r>
          </a:p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Project: ocr-processor (Full-Stack Document Intelligence with Tesseract OCR &amp; Spring AI)</a:t>
            </a:r>
            <a:br/>
            <a:r>
              <a:t>Designed, Architected &amp; Implemented with IBM Bob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303520"/>
            <a:ext cx="2514600" cy="594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284C7"/>
                </a:solidFill>
                <a:latin typeface="Arial"/>
              </a:defRPr>
            </a:pPr>
            <a:r>
              <a:t>101 Automated Cases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5303520"/>
            <a:ext cx="2514600" cy="594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6A34A"/>
                </a:solidFill>
                <a:latin typeface="Arial"/>
              </a:defRPr>
            </a:pPr>
            <a:r>
              <a:t>Triple-Evidence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5303520"/>
            <a:ext cx="2514600" cy="594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D97706"/>
                </a:solidFill>
                <a:latin typeface="Arial"/>
              </a:defRPr>
            </a:pPr>
            <a:r>
              <a:t>73.1% Req Coverage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5303520"/>
            <a:ext cx="2514600" cy="594360"/>
          </a:xfrm>
          <a:prstGeom prst="roundRect">
            <a:avLst/>
          </a:prstGeom>
          <a:solidFill>
            <a:srgbClr val="0284C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Co-Piloted with IBM Bob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THE PROBLEM &amp;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The Core Testing Problem: Status Quo Friction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ocr-processor · In-App Automation Testing Demonstration          |          Slide 2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384048" rIns="25603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0F172A"/>
                </a:solidFill>
                <a:latin typeface="Arial"/>
              </a:defRPr>
            </a:pPr>
            <a:r>
              <a:t>Disconnected Feedback Loop</a:t>
            </a:r>
          </a:p>
          <a:p>
            <a:pPr>
              <a:spcAft>
                <a:spcPts val="1400"/>
              </a:spcAft>
              <a:defRPr sz="1150">
                <a:solidFill>
                  <a:srgbClr val="64748B"/>
                </a:solidFill>
                <a:latin typeface="Arial"/>
              </a:defRPr>
            </a:pPr>
            <a:r>
              <a:t>Testing happens apart from development in separate pipelines or isolated QA sprints.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Developers push changes without immediate verification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Failure reports arrive days later, breaking mental context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Engineers spend entire cycles context-switching to reproduce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Significant delay in overall SDLC release velocity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691640"/>
            <a:ext cx="2971800" cy="7315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384048" rIns="25603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0F172A"/>
                </a:solidFill>
                <a:latin typeface="Arial"/>
              </a:defRPr>
            </a:pPr>
            <a:r>
              <a:t>Ambiguous Bug Reports</a:t>
            </a:r>
          </a:p>
          <a:p>
            <a:pPr>
              <a:spcAft>
                <a:spcPts val="1400"/>
              </a:spcAft>
              <a:defRPr sz="1150">
                <a:solidFill>
                  <a:srgbClr val="64748B"/>
                </a:solidFill>
                <a:latin typeface="Arial"/>
              </a:defRPr>
            </a:pPr>
            <a:r>
              <a:t>Bug notices routinely lack the concrete evidence needed for rapid root-cause diagnosis.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Reports say 'Case Failed' with no runtime parameters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Missing test data inputs, payloads, and mock configurations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No screenshots showing what the UI actually rendered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Heavy back-and-forth: 'Cannot reproduce on my machine'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691640"/>
            <a:ext cx="2971800" cy="731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384048" rIns="25603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0F172A"/>
                </a:solidFill>
                <a:latin typeface="Arial"/>
              </a:defRPr>
            </a:pPr>
            <a:r>
              <a:t>Late Regression Discovery</a:t>
            </a:r>
          </a:p>
          <a:p>
            <a:pPr>
              <a:spcAft>
                <a:spcPts val="1400"/>
              </a:spcAft>
              <a:defRPr sz="1150">
                <a:solidFill>
                  <a:srgbClr val="64748B"/>
                </a:solidFill>
                <a:latin typeface="Arial"/>
              </a:defRPr>
            </a:pPr>
            <a:r>
              <a:t>New features silently compromise existing functional flows without early warning.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Unit tests only exercise isolated, mocked layers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End-to-end user journeys are deferred to manual QA passes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QA team becomes the first group to discover regressions</a:t>
            </a:r>
          </a:p>
          <a:p>
            <a:pPr>
              <a:spcAft>
                <a:spcPts val="7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• Costly and stressful rework right before production release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691640"/>
            <a:ext cx="2971800" cy="7315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OUR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The Solution: In-App Automation Testing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ocr-processor · In-App Automation Testing Demonstration          |          Slide 3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47548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F172A"/>
                </a:solidFill>
                <a:latin typeface="Arial"/>
              </a:defRPr>
            </a:pPr>
            <a:r>
              <a:t>Bringing Test Automation Directly to Developers</a:t>
            </a:r>
          </a:p>
          <a:p>
            <a:pPr>
              <a:spcAft>
                <a:spcPts val="1600"/>
              </a:spcAft>
              <a:defRPr sz="1200">
                <a:solidFill>
                  <a:srgbClr val="64748B"/>
                </a:solidFill>
                <a:latin typeface="Arial"/>
              </a:defRPr>
            </a:pPr>
            <a:r>
              <a:t>Rather than pushing test execution off to remote CI queues, ocr-processor embeds the test harness into the running application under the dedicated Tests tab.</a:t>
            </a:r>
          </a:p>
          <a:p>
            <a:pPr>
              <a:defRPr sz="1250" b="1">
                <a:solidFill>
                  <a:srgbClr val="0284C7"/>
                </a:solidFill>
                <a:latin typeface="Arial"/>
              </a:defRPr>
            </a:pPr>
            <a:r>
              <a:t>✔ Self-Provisioned Execution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Test cases automatically seed isolated database records, mock external APIs, and establish authenticated sessions on demand.</a:t>
            </a:r>
          </a:p>
          <a:p>
            <a:pPr>
              <a:defRPr sz="1250" b="1">
                <a:solidFill>
                  <a:srgbClr val="0284C7"/>
                </a:solidFill>
                <a:latin typeface="Arial"/>
              </a:defRPr>
            </a:pPr>
            <a:r>
              <a:t>✔ Zero-Friction Selectivity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Developers tick specific test cases or execute complete suites with an asynchronous non-blocking queue.</a:t>
            </a:r>
          </a:p>
          <a:p>
            <a:pPr>
              <a:defRPr sz="1250" b="1">
                <a:solidFill>
                  <a:srgbClr val="0284C7"/>
                </a:solidFill>
                <a:latin typeface="Arial"/>
              </a:defRPr>
            </a:pPr>
            <a:r>
              <a:t>✔ Triple-Fold Evidence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Every run produces an audit breakdown (Executed / Validated / Observed) paired with real browser screenshots.</a:t>
            </a:r>
          </a:p>
          <a:p>
            <a:pPr>
              <a:defRPr sz="1250" b="1">
                <a:solidFill>
                  <a:srgbClr val="0284C7"/>
                </a:solidFill>
                <a:latin typeface="Arial"/>
              </a:defRPr>
            </a:pPr>
            <a:r>
              <a:t>✔ Requirements-Grounded Coverage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Direct visual correlation between test runs and Phase 1 functional requirements (REQ-001 through REQ-007).</a:t>
            </a:r>
          </a:p>
        </p:txBody>
      </p:sp>
      <p:pic>
        <p:nvPicPr>
          <p:cNvPr id="7" name="Picture 6" descr="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303520" cy="33178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4872367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748B"/>
                </a:solidFill>
              </a:defRPr>
            </a:pPr>
            <a:r>
              <a:t>Figure 1: Application Architecture &amp; End-to-End Testing Lifecycle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The Product Under Test: Document Intelligence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ocr-processor · In-App Automation Testing Demonstration          |          Slide 4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47472" rIns="228600" rtlCol="0" anchor="ctr"/>
          <a:lstStyle/>
          <a:p>
            <a:pPr algn="ctr">
              <a:spcAft>
                <a:spcPts val="600"/>
              </a:spcAft>
              <a:defRPr sz="1450" b="1">
                <a:solidFill>
                  <a:srgbClr val="0F172A"/>
                </a:solidFill>
              </a:defRPr>
            </a:pPr>
            <a:r>
              <a:t>Multi-Format Ingestion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Upload PDF, PNG, JPG, JPEG, and TIFF documents up to 20MB with real-time UI validation and progress states.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365760" cy="914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47472" rIns="228600" rtlCol="0" anchor="ctr"/>
          <a:lstStyle/>
          <a:p>
            <a:pPr algn="ctr">
              <a:spcAft>
                <a:spcPts val="600"/>
              </a:spcAft>
              <a:defRPr sz="1450" b="1">
                <a:solidFill>
                  <a:srgbClr val="0F172A"/>
                </a:solidFill>
              </a:defRPr>
            </a:pPr>
            <a:r>
              <a:t>Tesseract OCR Engine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Local optical character recognition with ImageMagick preprocessing, DPI scaling, and TSV confidence filtering.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365760" cy="914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47472" rIns="228600" rtlCol="0" anchor="ctr"/>
          <a:lstStyle/>
          <a:p>
            <a:pPr algn="ctr">
              <a:spcAft>
                <a:spcPts val="600"/>
              </a:spcAft>
              <a:defRPr sz="1450" b="1">
                <a:solidFill>
                  <a:srgbClr val="0F172A"/>
                </a:solidFill>
              </a:defRPr>
            </a:pPr>
            <a:r>
              <a:t>PostgreSQL TSVECTOR Search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High-speed full-text search indexed via GIN triggers across document names, OCR text, and summaries.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45920"/>
            <a:ext cx="365760" cy="914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47472" rIns="228600" rtlCol="0" anchor="ctr"/>
          <a:lstStyle/>
          <a:p>
            <a:pPr algn="ctr">
              <a:spcAft>
                <a:spcPts val="600"/>
              </a:spcAft>
              <a:defRPr sz="1450" b="1">
                <a:solidFill>
                  <a:srgbClr val="0F172A"/>
                </a:solidFill>
              </a:defRPr>
            </a:pPr>
            <a:r>
              <a:t>Spring AI LLM Summaries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Automatic document summarisation with smart token truncation (10,000 chars) and one-click retry for failed inferences.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023360"/>
            <a:ext cx="365760" cy="914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47472" rIns="228600" rtlCol="0" anchor="ctr"/>
          <a:lstStyle/>
          <a:p>
            <a:pPr algn="ctr">
              <a:spcAft>
                <a:spcPts val="600"/>
              </a:spcAft>
              <a:defRPr sz="1450" b="1">
                <a:solidFill>
                  <a:srgbClr val="0F172A"/>
                </a:solidFill>
              </a:defRPr>
            </a:pPr>
            <a:r>
              <a:t>Hardened Security Layer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Stateless authentication via HTTP-only JWT cookies, BCrypt password hashing (factor 12), and automatic 5-attempt account lockout.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023360"/>
            <a:ext cx="365760" cy="914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46720" y="384048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47472" rIns="228600" rtlCol="0" anchor="ctr"/>
          <a:lstStyle/>
          <a:p>
            <a:pPr algn="ctr">
              <a:spcAft>
                <a:spcPts val="600"/>
              </a:spcAft>
              <a:defRPr sz="1450" b="1">
                <a:solidFill>
                  <a:srgbClr val="0F172A"/>
                </a:solidFill>
              </a:defRPr>
            </a:pPr>
            <a:r>
              <a:t>Interactive Web Interface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Lightweight Thymeleaf + CSS grid frontend featuring live Search, Create, Profile, and Test Console views.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023360"/>
            <a:ext cx="365760" cy="914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AUTOMATED TEST 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The Test Console: 101 Test Cases Across 3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ocr-processor · In-App Automation Testing Demonstration          |          Slide 5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663440" cy="47548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284C7"/>
                </a:solidFill>
                <a:latin typeface="Arial"/>
              </a:defRPr>
            </a:pPr>
            <a:r>
              <a:t>Unit Tests (32 Cases)</a:t>
            </a:r>
          </a:p>
          <a:p>
            <a:pPr>
              <a:spcAft>
                <a:spcPts val="11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Fast service-layer verification with faked dependencies. Validates JWT parsing &amp; tamper rejection, lockout policies, truncation bounds, and OCR text filters.</a:t>
            </a:r>
          </a:p>
          <a:p>
            <a:pPr>
              <a:spcAft>
                <a:spcPts val="300"/>
              </a:spcAft>
              <a:defRPr sz="1400" b="1">
                <a:solidFill>
                  <a:srgbClr val="16A34A"/>
                </a:solidFill>
                <a:latin typeface="Arial"/>
              </a:defRPr>
            </a:pPr>
            <a:r>
              <a:t>Regression Tests (29 Cases)</a:t>
            </a:r>
          </a:p>
          <a:p>
            <a:pPr>
              <a:spcAft>
                <a:spcPts val="11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Integration tests running against a real Testcontainers PostgreSQL instance. Proves full HTTP lifecycles, user isolation, cookie auth, and repository paging.</a:t>
            </a:r>
          </a:p>
          <a:p>
            <a:pPr>
              <a:spcAft>
                <a:spcPts val="300"/>
              </a:spcAft>
              <a:defRPr sz="1400" b="1">
                <a:solidFill>
                  <a:srgbClr val="D97706"/>
                </a:solidFill>
                <a:latin typeface="Arial"/>
              </a:defRPr>
            </a:pPr>
            <a:r>
              <a:t>End-to-End Tests (40 Cases)</a:t>
            </a:r>
          </a:p>
          <a:p>
            <a:pPr>
              <a:spcAft>
                <a:spcPts val="11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Real browser journeys driven by Selenium against the running application, combined with comprehensive API pytest scenarios testing user journeys.</a:t>
            </a:r>
          </a:p>
          <a:p>
            <a:pPr>
              <a:spcAft>
                <a:spcPts val="300"/>
              </a:spcAft>
              <a:defRPr sz="1250" b="1">
                <a:solidFill>
                  <a:srgbClr val="0F172A"/>
                </a:solidFill>
              </a:defRPr>
            </a:pPr>
            <a:r>
              <a:t>Console Capabilities:</a:t>
            </a:r>
          </a:p>
          <a:p>
            <a:pPr>
              <a:spcAft>
                <a:spcPts val="200"/>
              </a:spcAft>
              <a:defRPr sz="1050">
                <a:solidFill>
                  <a:srgbClr val="64748B"/>
                </a:solidFill>
              </a:defRPr>
            </a:pPr>
            <a:r>
              <a:t>• Selective checkbox picking or full suite execution</a:t>
            </a:r>
          </a:p>
          <a:p>
            <a:pPr>
              <a:spcAft>
                <a:spcPts val="200"/>
              </a:spcAft>
              <a:defRPr sz="1050">
                <a:solidFill>
                  <a:srgbClr val="64748B"/>
                </a:solidFill>
              </a:defRPr>
            </a:pPr>
            <a:r>
              <a:t>• Non-blocking background queue for simultaneous runs</a:t>
            </a:r>
          </a:p>
          <a:p>
            <a:pPr>
              <a:spcAft>
                <a:spcPts val="200"/>
              </a:spcAft>
              <a:defRPr sz="1050">
                <a:solidFill>
                  <a:srgbClr val="64748B"/>
                </a:solidFill>
              </a:defRPr>
            </a:pPr>
            <a:r>
              <a:t>• High-density two-row layout: zero horizontal scroll</a:t>
            </a:r>
          </a:p>
          <a:p>
            <a:pPr>
              <a:spcAft>
                <a:spcPts val="200"/>
              </a:spcAft>
              <a:defRPr sz="1050">
                <a:solidFill>
                  <a:srgbClr val="64748B"/>
                </a:solidFill>
              </a:defRPr>
            </a:pPr>
            <a:r>
              <a:t>• Failed cases automatically bubble to the top of table</a:t>
            </a:r>
          </a:p>
        </p:txBody>
      </p:sp>
      <p:pic>
        <p:nvPicPr>
          <p:cNvPr id="7" name="Picture 6" descr="two-row-failed-fir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63040"/>
            <a:ext cx="5760720" cy="36039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0" y="5158392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748B"/>
                </a:solidFill>
              </a:defRPr>
            </a:pPr>
            <a:r>
              <a:t>Figure 2: In-App Test Console showing Two-Row Case Layout &amp; Failed-First Sorting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EVIDENCE &amp;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Actionable Evidence &amp; Root-Cause Failure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ocr-processor · In-App Automation Testing Demonstration          |          Slide 6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6459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64592" rIns="137160" rtlCol="0" anchor="ctr"/>
          <a:lstStyle/>
          <a:p>
            <a:pPr algn="ctr">
              <a:defRPr sz="1050" b="1">
                <a:solidFill>
                  <a:srgbClr val="0284C7"/>
                </a:solidFill>
              </a:defRPr>
            </a:pPr>
            <a:r>
              <a:t>EXECUTED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</a:defRPr>
            </a:pPr>
            <a:r>
              <a:t>Input Parameters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Records user ID, uploaded filename, MIME type, auth headers, and execution flags.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463040"/>
            <a:ext cx="16459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64592" rIns="137160" rtlCol="0" anchor="ctr"/>
          <a:lstStyle/>
          <a:p>
            <a:pPr algn="ctr">
              <a:defRPr sz="1050" b="1">
                <a:solidFill>
                  <a:srgbClr val="16A34A"/>
                </a:solidFill>
              </a:defRPr>
            </a:pPr>
            <a:r>
              <a:t>VALIDATED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</a:defRPr>
            </a:pPr>
            <a:r>
              <a:t>Assertions &amp; Contracts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Documents required HTTP status, database persistence, and contract preconditions.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16459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64592" rIns="137160" rtlCol="0" anchor="ctr"/>
          <a:lstStyle/>
          <a:p>
            <a:pPr algn="ctr">
              <a:defRPr sz="1050" b="1">
                <a:solidFill>
                  <a:srgbClr val="D97706"/>
                </a:solidFill>
              </a:defRPr>
            </a:pPr>
            <a:r>
              <a:t>OBSERVED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</a:defRPr>
            </a:pPr>
            <a:r>
              <a:t>Runtime Outputs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Captures server response JSON, OCR text excerpts, and error messages.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5212080" cy="25603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spcAft>
                <a:spcPts val="600"/>
              </a:spcAft>
              <a:defRPr sz="1350" b="1">
                <a:solidFill>
                  <a:srgbClr val="DC2626"/>
                </a:solidFill>
              </a:defRPr>
            </a:pPr>
            <a:r>
              <a:t>Deliberate Failure Diagnostics (Where · Why · How to Fix)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Where: pinpoints the exact file and line number in source code (e.g., FailureSamplesTest.java:17)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Why: contrasts expected contract against observed reality (e.g., Expected length &gt;= 8, but was 3)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How to Fix: guides the developer on the exact architectural remediation required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Evidence Card: every non-UI test auto-generates a 640px visual summary card for audits</a:t>
            </a:r>
          </a:p>
        </p:txBody>
      </p:sp>
      <p:pic>
        <p:nvPicPr>
          <p:cNvPr id="10" name="Picture 9" descr="failure-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32606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4815162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748B"/>
                </a:solidFill>
              </a:defRPr>
            </a:pPr>
            <a:r>
              <a:t>Figure 3: Interactive Failure Explanation Breakdown &amp; Stack Tracing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COVERAGE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Requirements-Phase Traceability: Beyond Raw Line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ocr-processor · In-App Automation Testing Demonstration          |          Slide 7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754880" cy="47548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6A34A"/>
                </a:solidFill>
              </a:defRPr>
            </a:pPr>
            <a:r>
              <a:t>38 of 52 Criteria Verified (73.1%)</a:t>
            </a:r>
          </a:p>
          <a:p>
            <a:pPr>
              <a:spcAft>
                <a:spcPts val="1000"/>
              </a:spcAft>
              <a:defRPr sz="1150">
                <a:solidFill>
                  <a:srgbClr val="64748B"/>
                </a:solidFill>
              </a:defRPr>
            </a:pPr>
            <a:r>
              <a:t>Traditional code coverage tools report lines executed without proving requirements. The Coverage tab maps automated cases directly to acceptance criteria defined in Phase 1:</a:t>
            </a:r>
          </a:p>
          <a:p>
            <a:pPr>
              <a:spcAft>
                <a:spcPts val="250"/>
              </a:spcAft>
              <a:defRPr sz="1000">
                <a:solidFill>
                  <a:srgbClr val="0F172A"/>
                </a:solidFill>
              </a:defRPr>
            </a:pPr>
            <a:r>
              <a:t>• REQ-001 Registration (66.7%): Duplicate checks, short passwords, redirects.</a:t>
            </a:r>
          </a:p>
          <a:p>
            <a:pPr>
              <a:spcAft>
                <a:spcPts val="250"/>
              </a:spcAft>
              <a:defRPr sz="1000">
                <a:solidFill>
                  <a:srgbClr val="0F172A"/>
                </a:solidFill>
              </a:defRPr>
            </a:pPr>
            <a:r>
              <a:t>• REQ-002 Login (62.5%): Valid auth, generic error messaging, protected routes.</a:t>
            </a:r>
          </a:p>
          <a:p>
            <a:pPr>
              <a:spcAft>
                <a:spcPts val="250"/>
              </a:spcAft>
              <a:defRPr sz="1000">
                <a:solidFill>
                  <a:srgbClr val="0F172A"/>
                </a:solidFill>
              </a:defRPr>
            </a:pPr>
            <a:r>
              <a:t>• REQ-003 Change Password (71.4%): Validation, current password verification.</a:t>
            </a:r>
          </a:p>
          <a:p>
            <a:pPr>
              <a:spcAft>
                <a:spcPts val="250"/>
              </a:spcAft>
              <a:defRPr sz="1000">
                <a:solidFill>
                  <a:srgbClr val="0F172A"/>
                </a:solidFill>
              </a:defRPr>
            </a:pPr>
            <a:r>
              <a:t>• REQ-004 Home UI (80.0%): Tabs, navigation, and seamless logout flows.</a:t>
            </a:r>
          </a:p>
          <a:p>
            <a:pPr>
              <a:spcAft>
                <a:spcPts val="250"/>
              </a:spcAft>
              <a:defRPr sz="1000">
                <a:solidFill>
                  <a:srgbClr val="0F172A"/>
                </a:solidFill>
              </a:defRPr>
            </a:pPr>
            <a:r>
              <a:t>• REQ-005 OCR Search (62.5%): Queries, empty states, and tenant isolation.</a:t>
            </a:r>
          </a:p>
          <a:p>
            <a:pPr>
              <a:spcAft>
                <a:spcPts val="250"/>
              </a:spcAft>
              <a:defRPr sz="1000">
                <a:solidFill>
                  <a:srgbClr val="0F172A"/>
                </a:solidFill>
              </a:defRPr>
            </a:pPr>
            <a:r>
              <a:t>• REQ-006 Upload &amp; OCR (87.5%): Ingestion, text extraction, and status transitions.</a:t>
            </a:r>
          </a:p>
          <a:p>
            <a:pPr>
              <a:spcAft>
                <a:spcPts val="250"/>
              </a:spcAft>
              <a:defRPr sz="1000">
                <a:solidFill>
                  <a:srgbClr val="0F172A"/>
                </a:solidFill>
              </a:defRPr>
            </a:pPr>
            <a:r>
              <a:t>• REQ-007 LLM Summary (85.7%): Automatic summarisation and failure retries.</a:t>
            </a:r>
          </a:p>
          <a:p>
            <a:br/>
            <a:r>
              <a:t>Honest Accounting of Open Gaps:</a:t>
            </a:r>
            <a:br/>
            <a:r>
              <a:t>Explicitly explains why remaining criteria (e.g., &gt;20MB uploads, live external LLM billing, Tesseract 2-min timeouts) remain open.</a:t>
            </a:r>
          </a:p>
        </p:txBody>
      </p:sp>
      <p:pic>
        <p:nvPicPr>
          <p:cNvPr id="7" name="Picture 6" descr="req-coverage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5669280" cy="35467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5101187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748B"/>
                </a:solidFill>
              </a:defRPr>
            </a:pPr>
            <a:r>
              <a:t>Figure 4: Visual Breakdown of Requirements Coverage &amp; Rationales for Open Items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IBM BOB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Co-Piloted with IBM Bob: From Concept to Working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ocr-processor · In-App Automation Testing Demonstration          |          Slide 8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5146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868680" rIns="22860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Phase 1: Requirements Engineering</a:t>
            </a:r>
          </a:p>
          <a:p>
            <a:pPr>
              <a:spcAft>
                <a:spcPts val="1200"/>
              </a:spcAft>
              <a:defRPr sz="1100">
                <a:solidFill>
                  <a:srgbClr val="64748B"/>
                </a:solidFill>
              </a:defRPr>
            </a:pPr>
            <a:r>
              <a:t>Captured 7 user stories, EARS acceptance criteria, edge cases, and data models in structured documentation.</a:t>
            </a:r>
          </a:p>
          <a:p>
            <a:pPr>
              <a:defRPr sz="1000" b="1">
                <a:solidFill>
                  <a:srgbClr val="0284C7"/>
                </a:solidFill>
              </a:defRPr>
            </a:pPr>
            <a:r>
              <a:t>Key Deliverable: Markdown Spec &amp; ADRs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1783080"/>
            <a:ext cx="548640" cy="54864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54480"/>
            <a:ext cx="25146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868680" rIns="22860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Phase 2: Architecture &amp; Decision Records</a:t>
            </a:r>
          </a:p>
          <a:p>
            <a:pPr>
              <a:spcAft>
                <a:spcPts val="1200"/>
              </a:spcAft>
              <a:defRPr sz="1100">
                <a:solidFill>
                  <a:srgbClr val="64748B"/>
                </a:solidFill>
              </a:defRPr>
            </a:pPr>
            <a:r>
              <a:t>Authored 5 Architectural Decision Records (ADRs) evaluating Tesseract, Spring AI, PostgreSQL FTS, and JWT cookies.</a:t>
            </a:r>
          </a:p>
          <a:p>
            <a:pPr>
              <a:defRPr sz="1000" b="1">
                <a:solidFill>
                  <a:srgbClr val="16A34A"/>
                </a:solidFill>
              </a:defRPr>
            </a:pPr>
            <a:r>
              <a:t>Key Deliverable: Markdown Spec &amp; ADRs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1783080"/>
            <a:ext cx="548640" cy="5486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554480"/>
            <a:ext cx="25146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868680" rIns="22860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Phase 3: Design &amp; Technical Spec</a:t>
            </a:r>
          </a:p>
          <a:p>
            <a:pPr>
              <a:spcAft>
                <a:spcPts val="1200"/>
              </a:spcAft>
              <a:defRPr sz="1100">
                <a:solidFill>
                  <a:srgbClr val="64748B"/>
                </a:solidFill>
              </a:defRPr>
            </a:pPr>
            <a:r>
              <a:t>Generated end-to-end component wireframes, sequence diagrams, and REST contract schemas before writing code.</a:t>
            </a:r>
          </a:p>
          <a:p>
            <a:pPr>
              <a:defRPr sz="1000" b="1">
                <a:solidFill>
                  <a:srgbClr val="D97706"/>
                </a:solidFill>
              </a:defRPr>
            </a:pPr>
            <a:r>
              <a:t>Key Deliverable: Markdown Spec &amp; ADRs</a:t>
            </a:r>
          </a:p>
        </p:txBody>
      </p:sp>
      <p:sp>
        <p:nvSpPr>
          <p:cNvPr id="11" name="Oval 10"/>
          <p:cNvSpPr/>
          <p:nvPr/>
        </p:nvSpPr>
        <p:spPr>
          <a:xfrm>
            <a:off x="6355080" y="1783080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554480"/>
            <a:ext cx="25146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868680" rIns="22860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Phase 4: Full-Stack Implementation</a:t>
            </a:r>
          </a:p>
          <a:p>
            <a:pPr>
              <a:spcAft>
                <a:spcPts val="1200"/>
              </a:spcAft>
              <a:defRPr sz="1100">
                <a:solidFill>
                  <a:srgbClr val="64748B"/>
                </a:solidFill>
              </a:defRPr>
            </a:pPr>
            <a:r>
              <a:t>Implemented Spring Boot application, Testcontainers infrastructure, Pytest Selenium runners, and the interactive Test Console.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Key Deliverable: 101 Executable Cases</a:t>
            </a:r>
          </a:p>
        </p:txBody>
      </p:sp>
      <p:sp>
        <p:nvSpPr>
          <p:cNvPr id="13" name="Oval 12"/>
          <p:cNvSpPr/>
          <p:nvPr/>
        </p:nvSpPr>
        <p:spPr>
          <a:xfrm>
            <a:off x="9052560" y="1783080"/>
            <a:ext cx="548640" cy="54864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BUSINESS &amp; TECHNICAL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Measurable SDLC Impact: Accelerating Release Velocity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ocr-processor · In-App Automation Testing Demonstration          |          Slide 9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56032" rIns="274320" rtlCol="0" anchor="ctr"/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FEEDBACK LATENCY</a:t>
            </a:r>
          </a:p>
          <a:p>
            <a:pPr>
              <a:spcAft>
                <a:spcPts val="500"/>
              </a:spcAft>
              <a:defRPr sz="1800" b="1">
                <a:solidFill>
                  <a:srgbClr val="0F172A"/>
                </a:solidFill>
              </a:defRPr>
            </a:pPr>
            <a:r>
              <a:t>Seconds vs. Days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Developers receive immediate failure attribution in their local browser session instead of waiting for nightlies or QA ticket cycles.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56032" rIns="274320" rtlCol="0" anchor="ctr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REGRESSION CONFIDENCE</a:t>
            </a:r>
          </a:p>
          <a:p>
            <a:pPr>
              <a:spcAft>
                <a:spcPts val="500"/>
              </a:spcAft>
              <a:defRPr sz="1800" b="1">
                <a:solidFill>
                  <a:srgbClr val="0F172A"/>
                </a:solidFill>
              </a:defRPr>
            </a:pPr>
            <a:r>
              <a:t>Zero Silent Breaks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Executing the 29-case regression suite proves auth, search, upload, and database isolation before committing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56032" rIns="274320" rtlCol="0" anchor="ctr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DIAGNOSTIC OVERHEAD</a:t>
            </a:r>
          </a:p>
          <a:p>
            <a:pPr>
              <a:spcAft>
                <a:spcPts val="500"/>
              </a:spcAft>
              <a:defRPr sz="1800" b="1">
                <a:solidFill>
                  <a:srgbClr val="0F172A"/>
                </a:solidFill>
              </a:defRPr>
            </a:pPr>
            <a:r>
              <a:t>Eliminated Guesswork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Every failure includes source line coordinates, contract discrepancy reasons, and visual evidence cards.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56032" rIns="274320"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HANDOFF QUALITY</a:t>
            </a:r>
          </a:p>
          <a:p>
            <a:pPr>
              <a:spcAft>
                <a:spcPts val="500"/>
              </a:spcAft>
              <a:defRPr sz="1800" b="1">
                <a:solidFill>
                  <a:srgbClr val="0F172A"/>
                </a:solidFill>
              </a:defRPr>
            </a:pPr>
            <a:r>
              <a:t>Clean QA Drops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Testing teams receive verified builds where baseline functionality is proven, freeing QA for exploratory testing.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600" b="1">
                <a:solidFill>
                  <a:srgbClr val="FFFFFF"/>
                </a:solidFill>
              </a:defRPr>
            </a:pPr>
            <a:r>
              <a:t>Summary: Testing as an Active Development Tool</a:t>
            </a:r>
          </a:p>
          <a:p>
            <a:pPr>
              <a:spcAft>
                <a:spcPts val="2800"/>
              </a:spcAft>
              <a:defRPr sz="1600">
                <a:solidFill>
                  <a:srgbClr val="E2E8F0"/>
                </a:solidFill>
              </a:defRPr>
            </a:pPr>
            <a:r>
              <a:t>• Complete Transparency: Every test is self-documenting with Executed, Validated, and Observed evidence.</a:t>
            </a:r>
            <a:br/>
            <a:r>
              <a:t>• Integrated Developer Experience: Run Unit, Regression, and End-to-End suites without leaving the application.</a:t>
            </a:r>
            <a:br/>
            <a:r>
              <a:t>• Requirements-Driven Quality: Continuous tracking against formal acceptance criteria (REQ-001..REQ-007).</a:t>
            </a:r>
            <a:br/>
            <a:r>
              <a:t>• Accelerated SDLC: Catch defects earlier, eliminate handoff friction, and deliver faster with confidence.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Thank you! Ready for Live Demo &amp;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1425</Words>
  <Application>Microsoft Macintosh PowerPoint</Application>
  <PresentationFormat>Widescreen</PresentationFormat>
  <Paragraphs>141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veeru c</cp:lastModifiedBy>
  <cp:revision>1</cp:revision>
  <dcterms:created xsi:type="dcterms:W3CDTF">2013-01-27T09:14:16Z</dcterms:created>
  <dcterms:modified xsi:type="dcterms:W3CDTF">2026-09-26T14:59:41Z</dcterms:modified>
  <cp:category/>
</cp:coreProperties>
</file>